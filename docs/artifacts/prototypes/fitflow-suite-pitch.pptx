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1995"/>
            <a:ext cx="80832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0"/>
              </a:lnSpc>
              <a:buNone/>
            </a:pPr>
            <a:r>
              <a:rPr lang="en-US" sz="900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🏋️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30352" y="2146995"/>
            <a:ext cx="8083296" cy="118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60"/>
              </a:lnSpc>
              <a:buNone/>
            </a:pPr>
            <a:r>
              <a:rPr lang="en-US" sz="6240" dirty="0">
                <a:solidFill>
                  <a:srgbClr val="F97316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FitFlow Suite</a:t>
            </a:r>
            <a:endParaRPr lang="en-US" sz="6240" dirty="0"/>
          </a:p>
        </p:txBody>
      </p:sp>
      <p:sp>
        <p:nvSpPr>
          <p:cNvPr id="4" name="Text 2"/>
          <p:cNvSpPr/>
          <p:nvPr/>
        </p:nvSpPr>
        <p:spPr>
          <a:xfrm>
            <a:off x="530352" y="3488085"/>
            <a:ext cx="808329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All-in-one fitness lifestyle app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914400" y="4101405"/>
            <a:ext cx="7315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phone-and-watch platform that connects food logging, meal planning, grocery savings, workouts, recovery, gym check-ins, and coach-guided personalization into one daily system.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010" y="617190"/>
            <a:ext cx="1714500" cy="1714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-140940"/>
            <a:ext cx="1330077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331690"/>
            <a:ext cx="3848100" cy="2952750"/>
          </a:xfrm>
          <a:prstGeom prst="roundRect">
            <a:avLst>
              <a:gd name="adj" fmla="val 7432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86300" y="2331690"/>
            <a:ext cx="3848100" cy="2952750"/>
          </a:xfrm>
          <a:prstGeom prst="roundRect">
            <a:avLst>
              <a:gd name="adj" fmla="val 7432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1525" y="-17115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9175" y="1935"/>
            <a:ext cx="7737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9600" y="563910"/>
            <a:ext cx="79248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Fitness behavior is fragmented.</a:t>
            </a:r>
            <a:endParaRPr lang="en-US" sz="3840" dirty="0"/>
          </a:p>
        </p:txBody>
      </p:sp>
      <p:sp>
        <p:nvSpPr>
          <p:cNvPr id="9" name="Text 6"/>
          <p:cNvSpPr/>
          <p:nvPr/>
        </p:nvSpPr>
        <p:spPr>
          <a:xfrm>
            <a:off x="923925" y="2646015"/>
            <a:ext cx="32194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many disconnected tools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23925" y="3369915"/>
            <a:ext cx="32194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commonly split calories, workouts, grocery planning, wearable metrics, motivation, and coaching across separate apps, which creates friction and weakens routine adherence.[web:45]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00625" y="2646015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Coaching and budget gaps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00625" y="3065115"/>
            <a:ext cx="32194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fitness products do not connect healthy eating decisions to grocery cost, and coach platforms often prioritize management tools without unifying the full client lifestyle journey.[web:38][web:44]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57150"/>
            <a:ext cx="1439912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24100"/>
            <a:ext cx="2489150" cy="2876550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27350" y="2324100"/>
            <a:ext cx="2489150" cy="2876550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45101" y="2324100"/>
            <a:ext cx="2489299" cy="2876550"/>
          </a:xfrm>
          <a:prstGeom prst="roundRect">
            <a:avLst>
              <a:gd name="adj" fmla="val 8816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525" y="6667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7275" y="85725"/>
            <a:ext cx="846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6477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One system for fuel, training, recovery, and spend.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85825" y="2600325"/>
            <a:ext cx="19754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🥗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85825" y="3133725"/>
            <a:ext cx="19754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Nutrition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5825" y="3552825"/>
            <a:ext cx="19367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Meal logging, hydration prompts, barcode or image entry, and adaptive meal suggestions based on goals and health needs.[web:2][web:9][web:15]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03575" y="2600325"/>
            <a:ext cx="19754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🏋️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603575" y="3133725"/>
            <a:ext cx="19754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engine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03575" y="3552825"/>
            <a:ext cx="193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Exercise plans, machine guidance, reps, rest timers, and session-ready support on phone and watch.[web:23][web:41]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1326" y="2600325"/>
            <a:ext cx="19755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🛒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21326" y="3133725"/>
            <a:ext cx="19755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engine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21326" y="3552825"/>
            <a:ext cx="193684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Meal-linked shopping lists, deal routing, and weekly spend awareness so healthy choices stay affordable.[web:32]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6409" y="0"/>
            <a:ext cx="1831181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57450"/>
            <a:ext cx="1838325" cy="2686050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38425" y="2457450"/>
            <a:ext cx="1838325" cy="2686050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2457450"/>
            <a:ext cx="1838325" cy="2686050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6075" y="2457450"/>
            <a:ext cx="1838325" cy="2686050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6429" y="1238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91869" y="142875"/>
            <a:ext cx="1246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journey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7048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product loop keeps users inside one habit system.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34104" y="2695575"/>
            <a:ext cx="13893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34104" y="3190875"/>
            <a:ext cx="13893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7725" y="3533775"/>
            <a:ext cx="13620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goals, restrictions, budget, equipment, and watch pairing.[web:21][web:27]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62929" y="2695575"/>
            <a:ext cx="13893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862929" y="3190875"/>
            <a:ext cx="13893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76550" y="3533775"/>
            <a:ext cx="13620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meals, workouts, hydration targets, and shopping routes.[web:39][web:41]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1754" y="2695575"/>
            <a:ext cx="13893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891754" y="3190875"/>
            <a:ext cx="13893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05375" y="3533775"/>
            <a:ext cx="13620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food, train with timers, check in at gyms, and use watch shortcuts.[web:3][web:28]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0579" y="2695575"/>
            <a:ext cx="13893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920579" y="3190875"/>
            <a:ext cx="13893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34200" y="3533775"/>
            <a:ext cx="13620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and coaches adjust plans using adherence, recovery, and progress signals.[web:38][web:44]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1152525"/>
            <a:ext cx="1683395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228725"/>
            <a:ext cx="2489150" cy="2419350"/>
          </a:xfrm>
          <a:prstGeom prst="roundRect">
            <a:avLst>
              <a:gd name="adj" fmla="val 9070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27350" y="1228725"/>
            <a:ext cx="2489150" cy="2419350"/>
          </a:xfrm>
          <a:prstGeom prst="roundRect">
            <a:avLst>
              <a:gd name="adj" fmla="val 9070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45101" y="1228725"/>
            <a:ext cx="2489299" cy="2419350"/>
          </a:xfrm>
          <a:prstGeom prst="roundRect">
            <a:avLst>
              <a:gd name="adj" fmla="val 9070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876675"/>
            <a:ext cx="2489150" cy="2419350"/>
          </a:xfrm>
          <a:prstGeom prst="roundRect">
            <a:avLst>
              <a:gd name="adj" fmla="val 9070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27350" y="3876675"/>
            <a:ext cx="2489150" cy="2419350"/>
          </a:xfrm>
          <a:prstGeom prst="roundRect">
            <a:avLst>
              <a:gd name="adj" fmla="val 9070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45101" y="3876675"/>
            <a:ext cx="2489299" cy="2419350"/>
          </a:xfrm>
          <a:prstGeom prst="roundRect">
            <a:avLst>
              <a:gd name="adj" fmla="val 9070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-1028700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-1009650"/>
            <a:ext cx="10855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-44767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Six modules create the core moat.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47725" y="1466850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🥤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47725" y="1924050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Food and drink log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7725" y="2266950"/>
            <a:ext cx="2012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meals, water, supplements, and quick-add entries with modern nutrition workflows.[web:9][web:15]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5475" y="1466850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📹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565475" y="1924050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Exercise guidance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5475" y="2266950"/>
            <a:ext cx="2012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Video-based instruction, machine details, form cues, and what each move works.[web:34][web:41]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3226" y="1466850"/>
            <a:ext cx="2053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⏱️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283226" y="1924050"/>
            <a:ext cx="2053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workout tools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3226" y="2266950"/>
            <a:ext cx="201304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 timers, exercise sequencing, set tracking, and wrist-accessible session cues.[web:23][web:28]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7725" y="4114800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📍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847725" y="4572000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Gym check-ins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7725" y="4914900"/>
            <a:ext cx="2012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QR, NFC, or geofenced attendance that can support rewards and retention programs.[web:3][web:10]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5475" y="4114800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🏅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3565475" y="4572000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Motivation layer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65475" y="4914900"/>
            <a:ext cx="2012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Goals, streaks, badges, unlockables, and progress rewards to sustain engagement.[web:21][web:39]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3226" y="4114800"/>
            <a:ext cx="2053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🧠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6283226" y="4572000"/>
            <a:ext cx="2053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Coach control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83226" y="4914900"/>
            <a:ext cx="20130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drafts the plan while trainers and dietitians can refine it for each client.[web:38][web:44]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100" y="2430810"/>
            <a:ext cx="2095500" cy="209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-457200"/>
            <a:ext cx="1573560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924050"/>
            <a:ext cx="2489150" cy="3676650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327350" y="1924050"/>
            <a:ext cx="2489150" cy="3676650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45101" y="1924050"/>
            <a:ext cx="2489299" cy="3676650"/>
          </a:xfrm>
          <a:prstGeom prst="roundRect">
            <a:avLst>
              <a:gd name="adj" fmla="val 8816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71525" y="-333375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6800" y="-314325"/>
            <a:ext cx="9735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fit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9600" y="2476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category is moving toward broader lifestyle support.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923925" y="2238375"/>
            <a:ext cx="189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Trend 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23925" y="2543175"/>
            <a:ext cx="1897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923925" y="3152775"/>
            <a:ext cx="18605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major capability clusters now matter together: personalization, wearable integration, and coaching workflows.[web:41][web:45]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641675" y="2238375"/>
            <a:ext cx="189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Trend 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41675" y="2543175"/>
            <a:ext cx="1897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641675" y="3152775"/>
            <a:ext cx="1860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daily decision areas can be unified in one app: meals, movement, recovery, and spending.[web:32][web:45]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59426" y="2238375"/>
            <a:ext cx="18978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Trend 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359426" y="2543175"/>
            <a:ext cx="1897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359426" y="3152775"/>
            <a:ext cx="186064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buyer groups can be served at once: consumers and coaches, enabling hybrid monetization.[web:38][web:44]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1009650"/>
            <a:ext cx="2041029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7924800" cy="1466850"/>
          </a:xfrm>
          <a:prstGeom prst="roundRect">
            <a:avLst>
              <a:gd name="adj" fmla="val 14961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28950"/>
            <a:ext cx="7924800" cy="1466850"/>
          </a:xfrm>
          <a:prstGeom prst="roundRect">
            <a:avLst>
              <a:gd name="adj" fmla="val 14961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686300"/>
            <a:ext cx="7924800" cy="1466850"/>
          </a:xfrm>
          <a:prstGeom prst="roundRect">
            <a:avLst>
              <a:gd name="adj" fmla="val 14961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525" y="-885825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-866775"/>
            <a:ext cx="14503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-3048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Revenue can come from three aligned customer paths.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1647825"/>
            <a:ext cx="74906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Consumer subscription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028825"/>
            <a:ext cx="7343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personalization, advanced watch support, richer insights, and deeper nutrition or workout planning create recurring subscription value.[web:41][web:45]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305175"/>
            <a:ext cx="74906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Coach seats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686175"/>
            <a:ext cx="7343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Trainers and dietitians pay for client management, reusable templates, adherence dashboards, and editing controls.[web:38][web:44]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962525"/>
            <a:ext cx="74906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channels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343525"/>
            <a:ext cx="7343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Gym check-in rewards and grocery or retail offers extend the platform into retention and affiliate revenue opportunities.[web:10][web:32]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857250"/>
            <a:ext cx="957858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3848100" cy="4476750"/>
          </a:xfrm>
          <a:prstGeom prst="roundRect">
            <a:avLst>
              <a:gd name="adj" fmla="val 570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1524000"/>
            <a:ext cx="3848100" cy="4476750"/>
          </a:xfrm>
          <a:prstGeom prst="roundRect">
            <a:avLst>
              <a:gd name="adj" fmla="val 570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-7334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7275" y="-714375"/>
            <a:ext cx="3552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MVP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-1524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Build the smallest version that proves daily use.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23925" y="1838325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ship first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3925" y="2295525"/>
            <a:ext cx="3219450" cy="33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Goal-based onboarding and health profile capture.[web:21][web:27]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Daily dashboard with calories, hydration, workout, and streaks.[web:8]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Food and drink logging with personalized meal suggestions.[web:9][web:15]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Workout plans with form guidance and rest timers.[web:23][web:41]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AI plus coach editing workflow.[web:38][web:44]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00625" y="1838325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 expansion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00625" y="2295525"/>
            <a:ext cx="321945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Multi-store grocery optimization and deeper deal routing.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Scaled gym partner check-in rewards network.[web:10]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Marketplace workflows for premium coaches.[web:44]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Deeper watch interactions and richer performance analytics.[web:28]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 or class-based engagement if retention data supports it.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19050"/>
            <a:ext cx="1415802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62200"/>
            <a:ext cx="2489150" cy="2800350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27350" y="2362200"/>
            <a:ext cx="2489150" cy="2800350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45101" y="2362200"/>
            <a:ext cx="2489299" cy="2800350"/>
          </a:xfrm>
          <a:prstGeom prst="roundRect">
            <a:avLst>
              <a:gd name="adj" fmla="val 8816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525" y="104775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123825"/>
            <a:ext cx="8126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Roadmap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6858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Three phases take the concept from proof to platform.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23925" y="2676525"/>
            <a:ext cx="189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23925" y="2981325"/>
            <a:ext cx="18977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habit loop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3925" y="3400425"/>
            <a:ext cx="1860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Onboarding, dashboard, food logging, workouts, timers, and coach edits. Goal: prove daily engagement and retention.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41675" y="2676525"/>
            <a:ext cx="189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41675" y="2981325"/>
            <a:ext cx="186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Operational depth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1675" y="3705225"/>
            <a:ext cx="186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routing, watch expansion, gym check-ins, and stronger adherence reporting for users and coaches.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9426" y="2676525"/>
            <a:ext cx="18978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9426" y="2981325"/>
            <a:ext cx="18606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ecosystem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9426" y="3705225"/>
            <a:ext cx="186064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Retail offers, gym relationships, professional service tiers, and richer health adaptation logic.[web:44][web:45]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533400"/>
            <a:ext cx="1878806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47850"/>
            <a:ext cx="3848100" cy="3829050"/>
          </a:xfrm>
          <a:prstGeom prst="roundRect">
            <a:avLst>
              <a:gd name="adj" fmla="val 5731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52725" y="2657475"/>
            <a:ext cx="609600" cy="266700"/>
          </a:xfrm>
          <a:prstGeom prst="roundRect">
            <a:avLst>
              <a:gd name="adj" fmla="val 3425142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2725" y="3076575"/>
            <a:ext cx="609600" cy="266700"/>
          </a:xfrm>
          <a:prstGeom prst="roundRect">
            <a:avLst>
              <a:gd name="adj" fmla="val 3425142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52725" y="3495675"/>
            <a:ext cx="609600" cy="266700"/>
          </a:xfrm>
          <a:prstGeom prst="roundRect">
            <a:avLst>
              <a:gd name="adj" fmla="val 3425142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52725" y="3914775"/>
            <a:ext cx="609600" cy="266700"/>
          </a:xfrm>
          <a:prstGeom prst="roundRect">
            <a:avLst>
              <a:gd name="adj" fmla="val 3425142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52725" y="4333875"/>
            <a:ext cx="609600" cy="266700"/>
          </a:xfrm>
          <a:prstGeom prst="roundRect">
            <a:avLst>
              <a:gd name="adj" fmla="val 3425142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86300" y="1847850"/>
            <a:ext cx="3848100" cy="3829050"/>
          </a:xfrm>
          <a:prstGeom prst="roundRect">
            <a:avLst>
              <a:gd name="adj" fmla="val 5731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525" y="-409575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-390525"/>
            <a:ext cx="12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to fund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" y="1714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7F4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Early capital should buy product learning, not just code.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23925" y="2162175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3925" y="2657475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build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3925" y="3076575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3925" y="3495675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library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3925" y="3914775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Partnership pilots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23925" y="4333875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 testing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00625" y="2162175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00625" y="2657475"/>
            <a:ext cx="3219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Activation: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completed onboarding plus first meal and first workout logged in week one.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00625" y="3609975"/>
            <a:ext cx="3219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Retention: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repeat use across both food and workout features, not one isolated behavior.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00625" y="4562475"/>
            <a:ext cx="3219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EF3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Monetization: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DD6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consumer conversion, coach seat adoption, and partner pilot conversion.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-590252"/>
            <a:ext cx="808329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buNone/>
            </a:pPr>
            <a:r>
              <a:rPr lang="en-US" sz="7500" dirty="0">
                <a:solidFill>
                  <a:srgbClr val="F7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🚀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609600" y="990898"/>
            <a:ext cx="7924800" cy="420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280"/>
              </a:lnSpc>
              <a:buNone/>
            </a:pPr>
            <a:r>
              <a:rPr lang="en-US" sz="5520" dirty="0">
                <a:solidFill>
                  <a:srgbClr val="F97316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FitFlow Suite turns daily fitness into one connected operating system.</a:t>
            </a:r>
            <a:endParaRPr lang="en-US" sz="5520" dirty="0"/>
          </a:p>
        </p:txBody>
      </p:sp>
      <p:sp>
        <p:nvSpPr>
          <p:cNvPr id="4" name="Text 2"/>
          <p:cNvSpPr/>
          <p:nvPr/>
        </p:nvSpPr>
        <p:spPr>
          <a:xfrm>
            <a:off x="530352" y="5425380"/>
            <a:ext cx="808329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AAA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Phone app • watch companion • coach platform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2026-07-28T15:47:16Z</dcterms:created>
  <dcterms:modified xsi:type="dcterms:W3CDTF">2026-07-28T15:47:16Z</dcterms:modified>
</cp:coreProperties>
</file>